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4a" ContentType="audi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1" r:id="rId3"/>
    <p:sldId id="270" r:id="rId4"/>
    <p:sldId id="292" r:id="rId5"/>
    <p:sldId id="293" r:id="rId6"/>
    <p:sldId id="303" r:id="rId7"/>
    <p:sldId id="295" r:id="rId8"/>
    <p:sldId id="296" r:id="rId9"/>
    <p:sldId id="297" r:id="rId10"/>
    <p:sldId id="298" r:id="rId11"/>
    <p:sldId id="304" r:id="rId12"/>
    <p:sldId id="300" r:id="rId13"/>
    <p:sldId id="301" r:id="rId14"/>
    <p:sldId id="305" r:id="rId15"/>
    <p:sldId id="27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5B31"/>
    <a:srgbClr val="C9C9C9"/>
    <a:srgbClr val="E4E4E4"/>
    <a:srgbClr val="404040"/>
    <a:srgbClr val="A32D0D"/>
    <a:srgbClr val="EF5B30"/>
    <a:srgbClr val="3B3C41"/>
    <a:srgbClr val="FF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3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95B31-E86D-4A29-8BF9-8908687D9E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DDB94-199A-45E1-99D3-5359787BDE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 userDrawn="1"/>
        </p:nvSpPr>
        <p:spPr>
          <a:xfrm>
            <a:off x="5324170" y="0"/>
            <a:ext cx="6867831" cy="6858000"/>
          </a:xfrm>
          <a:custGeom>
            <a:avLst/>
            <a:gdLst>
              <a:gd name="connsiteX0" fmla="*/ 6858000 w 6867831"/>
              <a:gd name="connsiteY0" fmla="*/ 0 h 6858000"/>
              <a:gd name="connsiteX1" fmla="*/ 6867831 w 6867831"/>
              <a:gd name="connsiteY1" fmla="*/ 0 h 6858000"/>
              <a:gd name="connsiteX2" fmla="*/ 6867831 w 6867831"/>
              <a:gd name="connsiteY2" fmla="*/ 6858000 h 6858000"/>
              <a:gd name="connsiteX3" fmla="*/ 0 w 6867831"/>
              <a:gd name="connsiteY3" fmla="*/ 6858000 h 6858000"/>
              <a:gd name="connsiteX4" fmla="*/ 6858000 w 6867831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7831" h="6858000">
                <a:moveTo>
                  <a:pt x="6858000" y="0"/>
                </a:moveTo>
                <a:lnTo>
                  <a:pt x="6867831" y="0"/>
                </a:lnTo>
                <a:lnTo>
                  <a:pt x="6867831" y="6858000"/>
                </a:lnTo>
                <a:lnTo>
                  <a:pt x="0" y="6858000"/>
                </a:lnTo>
                <a:lnTo>
                  <a:pt x="6858000" y="0"/>
                </a:lnTo>
                <a:close/>
              </a:path>
            </a:pathLst>
          </a:custGeom>
          <a:solidFill>
            <a:srgbClr val="404040"/>
          </a:solidFill>
          <a:ln w="12700" cap="flat" cmpd="sng" algn="ctr">
            <a:solidFill>
              <a:srgbClr val="40404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 userDrawn="1"/>
        </p:nvSpPr>
        <p:spPr>
          <a:xfrm>
            <a:off x="1" y="3738614"/>
            <a:ext cx="3156152" cy="3119387"/>
          </a:xfrm>
          <a:custGeom>
            <a:avLst/>
            <a:gdLst>
              <a:gd name="connsiteX0" fmla="*/ 1916671 w 3156152"/>
              <a:gd name="connsiteY0" fmla="*/ 0 h 3119387"/>
              <a:gd name="connsiteX1" fmla="*/ 3156152 w 3156152"/>
              <a:gd name="connsiteY1" fmla="*/ 0 h 3119387"/>
              <a:gd name="connsiteX2" fmla="*/ 36765 w 3156152"/>
              <a:gd name="connsiteY2" fmla="*/ 3119387 h 3119387"/>
              <a:gd name="connsiteX3" fmla="*/ 0 w 3156152"/>
              <a:gd name="connsiteY3" fmla="*/ 3119387 h 3119387"/>
              <a:gd name="connsiteX4" fmla="*/ 0 w 3156152"/>
              <a:gd name="connsiteY4" fmla="*/ 1916671 h 3119387"/>
              <a:gd name="connsiteX5" fmla="*/ 1916671 w 3156152"/>
              <a:gd name="connsiteY5" fmla="*/ 0 h 311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56152" h="3119387">
                <a:moveTo>
                  <a:pt x="1916671" y="0"/>
                </a:moveTo>
                <a:lnTo>
                  <a:pt x="3156152" y="0"/>
                </a:lnTo>
                <a:lnTo>
                  <a:pt x="36765" y="3119387"/>
                </a:lnTo>
                <a:lnTo>
                  <a:pt x="0" y="3119387"/>
                </a:lnTo>
                <a:lnTo>
                  <a:pt x="0" y="1916671"/>
                </a:lnTo>
                <a:lnTo>
                  <a:pt x="1916671" y="0"/>
                </a:lnTo>
                <a:close/>
              </a:path>
            </a:pathLst>
          </a:custGeom>
          <a:solidFill>
            <a:srgbClr val="E4E4E4"/>
          </a:solidFill>
          <a:ln w="0" cap="flat" cmpd="sng" algn="ctr">
            <a:solidFill>
              <a:srgbClr val="E4E4E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 userDrawn="1"/>
        </p:nvSpPr>
        <p:spPr>
          <a:xfrm>
            <a:off x="8034680" y="1"/>
            <a:ext cx="3296574" cy="2772697"/>
          </a:xfrm>
          <a:custGeom>
            <a:avLst/>
            <a:gdLst>
              <a:gd name="connsiteX0" fmla="*/ 2772697 w 3296574"/>
              <a:gd name="connsiteY0" fmla="*/ 0 h 2772697"/>
              <a:gd name="connsiteX1" fmla="*/ 3296574 w 3296574"/>
              <a:gd name="connsiteY1" fmla="*/ 0 h 2772697"/>
              <a:gd name="connsiteX2" fmla="*/ 523877 w 3296574"/>
              <a:gd name="connsiteY2" fmla="*/ 2772697 h 2772697"/>
              <a:gd name="connsiteX3" fmla="*/ 0 w 3296574"/>
              <a:gd name="connsiteY3" fmla="*/ 2772697 h 2772697"/>
              <a:gd name="connsiteX4" fmla="*/ 2772697 w 3296574"/>
              <a:gd name="connsiteY4" fmla="*/ 0 h 277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6574" h="2772697">
                <a:moveTo>
                  <a:pt x="2772697" y="0"/>
                </a:moveTo>
                <a:lnTo>
                  <a:pt x="3296574" y="0"/>
                </a:lnTo>
                <a:lnTo>
                  <a:pt x="523877" y="2772697"/>
                </a:lnTo>
                <a:lnTo>
                  <a:pt x="0" y="2772697"/>
                </a:lnTo>
                <a:lnTo>
                  <a:pt x="2772697" y="0"/>
                </a:lnTo>
                <a:close/>
              </a:path>
            </a:pathLst>
          </a:custGeom>
          <a:solidFill>
            <a:srgbClr val="F15B31"/>
          </a:solidFill>
          <a:ln w="0" cap="flat" cmpd="sng" algn="ctr">
            <a:solidFill>
              <a:srgbClr val="F15B3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 userDrawn="1"/>
        </p:nvSpPr>
        <p:spPr>
          <a:xfrm>
            <a:off x="6442277" y="2239129"/>
            <a:ext cx="3296575" cy="2772698"/>
          </a:xfrm>
          <a:custGeom>
            <a:avLst/>
            <a:gdLst>
              <a:gd name="connsiteX0" fmla="*/ 2772698 w 3296575"/>
              <a:gd name="connsiteY0" fmla="*/ 0 h 2772698"/>
              <a:gd name="connsiteX1" fmla="*/ 3296575 w 3296575"/>
              <a:gd name="connsiteY1" fmla="*/ 0 h 2772698"/>
              <a:gd name="connsiteX2" fmla="*/ 523877 w 3296575"/>
              <a:gd name="connsiteY2" fmla="*/ 2772698 h 2772698"/>
              <a:gd name="connsiteX3" fmla="*/ 0 w 3296575"/>
              <a:gd name="connsiteY3" fmla="*/ 2772698 h 2772698"/>
              <a:gd name="connsiteX4" fmla="*/ 2772698 w 3296575"/>
              <a:gd name="connsiteY4" fmla="*/ 0 h 2772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6575" h="2772698">
                <a:moveTo>
                  <a:pt x="2772698" y="0"/>
                </a:moveTo>
                <a:lnTo>
                  <a:pt x="3296575" y="0"/>
                </a:lnTo>
                <a:lnTo>
                  <a:pt x="523877" y="2772698"/>
                </a:lnTo>
                <a:lnTo>
                  <a:pt x="0" y="2772698"/>
                </a:lnTo>
                <a:lnTo>
                  <a:pt x="2772698" y="0"/>
                </a:lnTo>
                <a:close/>
              </a:path>
            </a:pathLst>
          </a:custGeom>
          <a:solidFill>
            <a:srgbClr val="F15B31"/>
          </a:solidFill>
          <a:ln w="0" cap="flat" cmpd="sng" algn="ctr">
            <a:solidFill>
              <a:srgbClr val="F15B3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 userDrawn="1"/>
        </p:nvSpPr>
        <p:spPr>
          <a:xfrm>
            <a:off x="1" y="1"/>
            <a:ext cx="3067662" cy="3067662"/>
          </a:xfrm>
          <a:custGeom>
            <a:avLst/>
            <a:gdLst>
              <a:gd name="connsiteX0" fmla="*/ 1887791 w 3067662"/>
              <a:gd name="connsiteY0" fmla="*/ 0 h 3067662"/>
              <a:gd name="connsiteX1" fmla="*/ 3067662 w 3067662"/>
              <a:gd name="connsiteY1" fmla="*/ 0 h 3067662"/>
              <a:gd name="connsiteX2" fmla="*/ 0 w 3067662"/>
              <a:gd name="connsiteY2" fmla="*/ 3067662 h 3067662"/>
              <a:gd name="connsiteX3" fmla="*/ 0 w 3067662"/>
              <a:gd name="connsiteY3" fmla="*/ 1887791 h 3067662"/>
              <a:gd name="connsiteX4" fmla="*/ 1887791 w 3067662"/>
              <a:gd name="connsiteY4" fmla="*/ 0 h 3067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7662" h="3067662">
                <a:moveTo>
                  <a:pt x="1887791" y="0"/>
                </a:moveTo>
                <a:lnTo>
                  <a:pt x="3067662" y="0"/>
                </a:lnTo>
                <a:lnTo>
                  <a:pt x="0" y="3067662"/>
                </a:lnTo>
                <a:lnTo>
                  <a:pt x="0" y="1887791"/>
                </a:lnTo>
                <a:lnTo>
                  <a:pt x="1887791" y="0"/>
                </a:lnTo>
                <a:close/>
              </a:path>
            </a:pathLst>
          </a:custGeom>
          <a:solidFill>
            <a:srgbClr val="E4E4E4"/>
          </a:solidFill>
          <a:ln w="12700" cap="flat" cmpd="sng" algn="ctr">
            <a:solidFill>
              <a:srgbClr val="E4E4E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 userDrawn="1"/>
        </p:nvSpPr>
        <p:spPr>
          <a:xfrm>
            <a:off x="1" y="1"/>
            <a:ext cx="1887791" cy="1887791"/>
          </a:xfrm>
          <a:custGeom>
            <a:avLst/>
            <a:gdLst>
              <a:gd name="connsiteX0" fmla="*/ 0 w 1887791"/>
              <a:gd name="connsiteY0" fmla="*/ 0 h 1887791"/>
              <a:gd name="connsiteX1" fmla="*/ 1887791 w 1887791"/>
              <a:gd name="connsiteY1" fmla="*/ 0 h 1887791"/>
              <a:gd name="connsiteX2" fmla="*/ 0 w 1887791"/>
              <a:gd name="connsiteY2" fmla="*/ 1887791 h 1887791"/>
              <a:gd name="connsiteX3" fmla="*/ 0 w 1887791"/>
              <a:gd name="connsiteY3" fmla="*/ 0 h 1887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7791" h="1887791">
                <a:moveTo>
                  <a:pt x="0" y="0"/>
                </a:moveTo>
                <a:lnTo>
                  <a:pt x="1887791" y="0"/>
                </a:lnTo>
                <a:lnTo>
                  <a:pt x="0" y="1887791"/>
                </a:lnTo>
                <a:lnTo>
                  <a:pt x="0" y="0"/>
                </a:lnTo>
                <a:close/>
              </a:path>
            </a:pathLst>
          </a:custGeom>
          <a:solidFill>
            <a:srgbClr val="F15B31"/>
          </a:solidFill>
          <a:ln w="12700" cap="flat" cmpd="sng" algn="ctr">
            <a:solidFill>
              <a:srgbClr val="F15B3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 userDrawn="1"/>
        </p:nvSpPr>
        <p:spPr>
          <a:xfrm>
            <a:off x="1" y="1"/>
            <a:ext cx="3731767" cy="3731767"/>
          </a:xfrm>
          <a:custGeom>
            <a:avLst/>
            <a:gdLst>
              <a:gd name="connsiteX0" fmla="*/ 3067662 w 3731767"/>
              <a:gd name="connsiteY0" fmla="*/ 0 h 3731767"/>
              <a:gd name="connsiteX1" fmla="*/ 3731767 w 3731767"/>
              <a:gd name="connsiteY1" fmla="*/ 0 h 3731767"/>
              <a:gd name="connsiteX2" fmla="*/ 0 w 3731767"/>
              <a:gd name="connsiteY2" fmla="*/ 3731767 h 3731767"/>
              <a:gd name="connsiteX3" fmla="*/ 0 w 3731767"/>
              <a:gd name="connsiteY3" fmla="*/ 3067662 h 3731767"/>
              <a:gd name="connsiteX4" fmla="*/ 3067662 w 3731767"/>
              <a:gd name="connsiteY4" fmla="*/ 0 h 3731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1767" h="3731767">
                <a:moveTo>
                  <a:pt x="3067662" y="0"/>
                </a:moveTo>
                <a:lnTo>
                  <a:pt x="3731767" y="0"/>
                </a:lnTo>
                <a:lnTo>
                  <a:pt x="0" y="3731767"/>
                </a:lnTo>
                <a:lnTo>
                  <a:pt x="0" y="3067662"/>
                </a:lnTo>
                <a:lnTo>
                  <a:pt x="3067662" y="0"/>
                </a:lnTo>
                <a:close/>
              </a:path>
            </a:pathLst>
          </a:custGeom>
          <a:solidFill>
            <a:srgbClr val="F15B31"/>
          </a:solidFill>
          <a:ln w="12700" cap="flat" cmpd="sng" algn="ctr">
            <a:solidFill>
              <a:srgbClr val="F15B3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连接符 47"/>
          <p:cNvCxnSpPr/>
          <p:nvPr userDrawn="1"/>
        </p:nvCxnSpPr>
        <p:spPr>
          <a:xfrm flipV="1">
            <a:off x="5153648" y="2272797"/>
            <a:ext cx="4585204" cy="4585203"/>
          </a:xfrm>
          <a:prstGeom prst="line">
            <a:avLst/>
          </a:prstGeom>
          <a:ln w="57150">
            <a:solidFill>
              <a:srgbClr val="F15B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平行四边形 51"/>
          <p:cNvSpPr/>
          <p:nvPr userDrawn="1"/>
        </p:nvSpPr>
        <p:spPr>
          <a:xfrm>
            <a:off x="7619999" y="2017158"/>
            <a:ext cx="2710669" cy="1156203"/>
          </a:xfrm>
          <a:prstGeom prst="parallelogram">
            <a:avLst>
              <a:gd name="adj" fmla="val 100791"/>
            </a:avLst>
          </a:prstGeom>
          <a:solidFill>
            <a:srgbClr val="E4E4E4"/>
          </a:solidFill>
          <a:ln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  <p:bldP spid="35" grpId="0" animBg="1"/>
      <p:bldP spid="46" grpId="0" animBg="1"/>
      <p:bldP spid="45" grpId="0" animBg="1"/>
      <p:bldP spid="21" grpId="0" animBg="1"/>
      <p:bldP spid="19" grpId="1" animBg="1"/>
      <p:bldP spid="18" grpId="0" animBg="1"/>
      <p:bldP spid="52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比拓外贸圈，伴你走过外贸从零到一的每一步！（外贸干货培训，外贸人才招聘，阿里巴巴国际站开通，请联系微信：</a:t>
            </a:r>
            <a:r>
              <a:rPr lang="en-US" altLang="zh-CN"/>
              <a:t>betop666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D3D7C-781B-49F5-AB6D-6CD145C79A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 userDrawn="1"/>
        </p:nvSpPr>
        <p:spPr>
          <a:xfrm>
            <a:off x="1079500" y="0"/>
            <a:ext cx="11112500" cy="720000"/>
          </a:xfrm>
          <a:custGeom>
            <a:avLst/>
            <a:gdLst>
              <a:gd name="connsiteX0" fmla="*/ 7569200 w 11112500"/>
              <a:gd name="connsiteY0" fmla="*/ 0 h 720000"/>
              <a:gd name="connsiteX1" fmla="*/ 11112500 w 11112500"/>
              <a:gd name="connsiteY1" fmla="*/ 0 h 720000"/>
              <a:gd name="connsiteX2" fmla="*/ 11112500 w 11112500"/>
              <a:gd name="connsiteY2" fmla="*/ 720000 h 720000"/>
              <a:gd name="connsiteX3" fmla="*/ 0 w 11112500"/>
              <a:gd name="connsiteY3" fmla="*/ 720000 h 720000"/>
              <a:gd name="connsiteX4" fmla="*/ 0 w 11112500"/>
              <a:gd name="connsiteY4" fmla="*/ 684000 h 720000"/>
              <a:gd name="connsiteX5" fmla="*/ 6868160 w 11112500"/>
              <a:gd name="connsiteY5" fmla="*/ 685436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12500" h="720000">
                <a:moveTo>
                  <a:pt x="7569200" y="0"/>
                </a:moveTo>
                <a:lnTo>
                  <a:pt x="11112500" y="0"/>
                </a:lnTo>
                <a:lnTo>
                  <a:pt x="11112500" y="720000"/>
                </a:lnTo>
                <a:lnTo>
                  <a:pt x="0" y="720000"/>
                </a:lnTo>
                <a:lnTo>
                  <a:pt x="0" y="684000"/>
                </a:lnTo>
                <a:lnTo>
                  <a:pt x="6868160" y="685436"/>
                </a:lnTo>
                <a:close/>
              </a:path>
            </a:pathLst>
          </a:custGeom>
          <a:solidFill>
            <a:srgbClr val="3B3C41"/>
          </a:solidFill>
          <a:ln>
            <a:solidFill>
              <a:srgbClr val="3B3C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368300" y="0"/>
            <a:ext cx="711200" cy="720000"/>
          </a:xfrm>
          <a:prstGeom prst="rect">
            <a:avLst/>
          </a:prstGeom>
          <a:solidFill>
            <a:srgbClr val="F15B31"/>
          </a:solidFill>
          <a:ln>
            <a:solidFill>
              <a:srgbClr val="F15B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1079500" y="0"/>
            <a:ext cx="7452000" cy="685436"/>
          </a:xfrm>
          <a:custGeom>
            <a:avLst/>
            <a:gdLst>
              <a:gd name="connsiteX0" fmla="*/ 0 w 7569200"/>
              <a:gd name="connsiteY0" fmla="*/ 0 h 684000"/>
              <a:gd name="connsiteX1" fmla="*/ 7569200 w 7569200"/>
              <a:gd name="connsiteY1" fmla="*/ 0 h 684000"/>
              <a:gd name="connsiteX2" fmla="*/ 7569200 w 7569200"/>
              <a:gd name="connsiteY2" fmla="*/ 684000 h 684000"/>
              <a:gd name="connsiteX3" fmla="*/ 0 w 7569200"/>
              <a:gd name="connsiteY3" fmla="*/ 684000 h 684000"/>
              <a:gd name="connsiteX4" fmla="*/ 0 w 7569200"/>
              <a:gd name="connsiteY4" fmla="*/ 0 h 684000"/>
              <a:gd name="connsiteX0-1" fmla="*/ 0 w 7569200"/>
              <a:gd name="connsiteY0-2" fmla="*/ 0 h 685436"/>
              <a:gd name="connsiteX1-3" fmla="*/ 7569200 w 7569200"/>
              <a:gd name="connsiteY1-4" fmla="*/ 0 h 685436"/>
              <a:gd name="connsiteX2-5" fmla="*/ 7569200 w 7569200"/>
              <a:gd name="connsiteY2-6" fmla="*/ 684000 h 685436"/>
              <a:gd name="connsiteX3-7" fmla="*/ 6868160 w 7569200"/>
              <a:gd name="connsiteY3-8" fmla="*/ 685436 h 685436"/>
              <a:gd name="connsiteX4-9" fmla="*/ 0 w 7569200"/>
              <a:gd name="connsiteY4-10" fmla="*/ 684000 h 685436"/>
              <a:gd name="connsiteX5" fmla="*/ 0 w 7569200"/>
              <a:gd name="connsiteY5" fmla="*/ 0 h 685436"/>
              <a:gd name="connsiteX0-11" fmla="*/ 0 w 7569200"/>
              <a:gd name="connsiteY0-12" fmla="*/ 0 h 685436"/>
              <a:gd name="connsiteX1-13" fmla="*/ 7569200 w 7569200"/>
              <a:gd name="connsiteY1-14" fmla="*/ 0 h 685436"/>
              <a:gd name="connsiteX2-15" fmla="*/ 6868160 w 7569200"/>
              <a:gd name="connsiteY2-16" fmla="*/ 685436 h 685436"/>
              <a:gd name="connsiteX3-17" fmla="*/ 0 w 7569200"/>
              <a:gd name="connsiteY3-18" fmla="*/ 684000 h 685436"/>
              <a:gd name="connsiteX4-19" fmla="*/ 0 w 7569200"/>
              <a:gd name="connsiteY4-20" fmla="*/ 0 h 6854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69200" h="685436">
                <a:moveTo>
                  <a:pt x="0" y="0"/>
                </a:moveTo>
                <a:lnTo>
                  <a:pt x="7569200" y="0"/>
                </a:lnTo>
                <a:lnTo>
                  <a:pt x="6868160" y="685436"/>
                </a:lnTo>
                <a:lnTo>
                  <a:pt x="0" y="68400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任意多边形 66"/>
          <p:cNvSpPr/>
          <p:nvPr userDrawn="1"/>
        </p:nvSpPr>
        <p:spPr>
          <a:xfrm rot="-2700000">
            <a:off x="2136040" y="3478482"/>
            <a:ext cx="2056138" cy="2998704"/>
          </a:xfrm>
          <a:custGeom>
            <a:avLst/>
            <a:gdLst>
              <a:gd name="connsiteX0" fmla="*/ 3238 w 2056138"/>
              <a:gd name="connsiteY0" fmla="*/ 0 h 2998704"/>
              <a:gd name="connsiteX1" fmla="*/ 2056137 w 2056138"/>
              <a:gd name="connsiteY1" fmla="*/ 2052899 h 2998704"/>
              <a:gd name="connsiteX2" fmla="*/ 2056138 w 2056138"/>
              <a:gd name="connsiteY2" fmla="*/ 2998704 h 2998704"/>
              <a:gd name="connsiteX3" fmla="*/ 0 w 2056138"/>
              <a:gd name="connsiteY3" fmla="*/ 942566 h 2998704"/>
              <a:gd name="connsiteX4" fmla="*/ 0 w 2056138"/>
              <a:gd name="connsiteY4" fmla="*/ 1 h 2998704"/>
              <a:gd name="connsiteX5" fmla="*/ 3238 w 2056138"/>
              <a:gd name="connsiteY5" fmla="*/ 0 h 299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56138" h="2998704">
                <a:moveTo>
                  <a:pt x="3238" y="0"/>
                </a:moveTo>
                <a:lnTo>
                  <a:pt x="2056137" y="2052899"/>
                </a:lnTo>
                <a:lnTo>
                  <a:pt x="2056138" y="2998704"/>
                </a:lnTo>
                <a:lnTo>
                  <a:pt x="0" y="942566"/>
                </a:lnTo>
                <a:lnTo>
                  <a:pt x="0" y="1"/>
                </a:lnTo>
                <a:lnTo>
                  <a:pt x="3238" y="0"/>
                </a:lnTo>
                <a:close/>
              </a:path>
            </a:pathLst>
          </a:custGeom>
          <a:gradFill>
            <a:gsLst>
              <a:gs pos="31000">
                <a:schemeClr val="bg1"/>
              </a:gs>
              <a:gs pos="100000">
                <a:srgbClr val="E4E4E4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 userDrawn="1"/>
        </p:nvSpPr>
        <p:spPr>
          <a:xfrm rot="-2700000">
            <a:off x="1465427" y="2797462"/>
            <a:ext cx="4364667" cy="2054130"/>
          </a:xfrm>
          <a:custGeom>
            <a:avLst/>
            <a:gdLst>
              <a:gd name="connsiteX0" fmla="*/ 4364667 w 4364667"/>
              <a:gd name="connsiteY0" fmla="*/ 1231 h 2054130"/>
              <a:gd name="connsiteX1" fmla="*/ 4364666 w 4364667"/>
              <a:gd name="connsiteY1" fmla="*/ 2052100 h 2054130"/>
              <a:gd name="connsiteX2" fmla="*/ 2052899 w 4364667"/>
              <a:gd name="connsiteY2" fmla="*/ 2052100 h 2054130"/>
              <a:gd name="connsiteX3" fmla="*/ 2052899 w 4364667"/>
              <a:gd name="connsiteY3" fmla="*/ 2054130 h 2054130"/>
              <a:gd name="connsiteX4" fmla="*/ 0 w 4364667"/>
              <a:gd name="connsiteY4" fmla="*/ 1231 h 2054130"/>
              <a:gd name="connsiteX5" fmla="*/ 2031 w 4364667"/>
              <a:gd name="connsiteY5" fmla="*/ 1231 h 2054130"/>
              <a:gd name="connsiteX6" fmla="*/ 2031 w 4364667"/>
              <a:gd name="connsiteY6" fmla="*/ 1 h 2054130"/>
              <a:gd name="connsiteX7" fmla="*/ 2052899 w 4364667"/>
              <a:gd name="connsiteY7" fmla="*/ 0 h 2054130"/>
              <a:gd name="connsiteX8" fmla="*/ 2052900 w 4364667"/>
              <a:gd name="connsiteY8" fmla="*/ 1231 h 2054130"/>
              <a:gd name="connsiteX9" fmla="*/ 4364667 w 4364667"/>
              <a:gd name="connsiteY9" fmla="*/ 1231 h 205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64667" h="2054130">
                <a:moveTo>
                  <a:pt x="4364667" y="1231"/>
                </a:moveTo>
                <a:lnTo>
                  <a:pt x="4364666" y="2052100"/>
                </a:lnTo>
                <a:lnTo>
                  <a:pt x="2052899" y="2052100"/>
                </a:lnTo>
                <a:lnTo>
                  <a:pt x="2052899" y="2054130"/>
                </a:lnTo>
                <a:lnTo>
                  <a:pt x="0" y="1231"/>
                </a:lnTo>
                <a:lnTo>
                  <a:pt x="2031" y="1231"/>
                </a:lnTo>
                <a:lnTo>
                  <a:pt x="2031" y="1"/>
                </a:lnTo>
                <a:lnTo>
                  <a:pt x="2052899" y="0"/>
                </a:lnTo>
                <a:lnTo>
                  <a:pt x="2052900" y="1231"/>
                </a:lnTo>
                <a:lnTo>
                  <a:pt x="4364667" y="1231"/>
                </a:lnTo>
                <a:close/>
              </a:path>
            </a:pathLst>
          </a:custGeom>
          <a:solidFill>
            <a:srgbClr val="E4E4E4"/>
          </a:solidFill>
          <a:ln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 userDrawn="1"/>
        </p:nvSpPr>
        <p:spPr>
          <a:xfrm>
            <a:off x="2927627" y="3077917"/>
            <a:ext cx="631" cy="1262"/>
          </a:xfrm>
          <a:custGeom>
            <a:avLst/>
            <a:gdLst>
              <a:gd name="connsiteX0" fmla="*/ 631 w 631"/>
              <a:gd name="connsiteY0" fmla="*/ 0 h 1262"/>
              <a:gd name="connsiteX1" fmla="*/ 631 w 631"/>
              <a:gd name="connsiteY1" fmla="*/ 1262 h 1262"/>
              <a:gd name="connsiteX2" fmla="*/ 0 w 631"/>
              <a:gd name="connsiteY2" fmla="*/ 631 h 1262"/>
              <a:gd name="connsiteX3" fmla="*/ 631 w 631"/>
              <a:gd name="connsiteY3" fmla="*/ 0 h 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" h="1262">
                <a:moveTo>
                  <a:pt x="631" y="0"/>
                </a:moveTo>
                <a:lnTo>
                  <a:pt x="631" y="1262"/>
                </a:lnTo>
                <a:lnTo>
                  <a:pt x="0" y="631"/>
                </a:lnTo>
                <a:lnTo>
                  <a:pt x="631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 userDrawn="1"/>
        </p:nvSpPr>
        <p:spPr>
          <a:xfrm>
            <a:off x="361950" y="0"/>
            <a:ext cx="5448826" cy="720000"/>
          </a:xfrm>
          <a:custGeom>
            <a:avLst/>
            <a:gdLst>
              <a:gd name="connsiteX0" fmla="*/ 0 w 5632976"/>
              <a:gd name="connsiteY0" fmla="*/ 0 h 720000"/>
              <a:gd name="connsiteX1" fmla="*/ 5632976 w 5632976"/>
              <a:gd name="connsiteY1" fmla="*/ 0 h 720000"/>
              <a:gd name="connsiteX2" fmla="*/ 4912977 w 5632976"/>
              <a:gd name="connsiteY2" fmla="*/ 720000 h 720000"/>
              <a:gd name="connsiteX3" fmla="*/ 0 w 5632976"/>
              <a:gd name="connsiteY3" fmla="*/ 720000 h 720000"/>
              <a:gd name="connsiteX4" fmla="*/ 0 w 5632976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2976" h="720000">
                <a:moveTo>
                  <a:pt x="0" y="0"/>
                </a:moveTo>
                <a:lnTo>
                  <a:pt x="5632976" y="0"/>
                </a:lnTo>
                <a:lnTo>
                  <a:pt x="4912977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  <a:ln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 userDrawn="1"/>
        </p:nvSpPr>
        <p:spPr>
          <a:xfrm>
            <a:off x="4464078" y="720000"/>
            <a:ext cx="7727922" cy="6138000"/>
          </a:xfrm>
          <a:custGeom>
            <a:avLst/>
            <a:gdLst>
              <a:gd name="connsiteX0" fmla="*/ 817199 w 7727922"/>
              <a:gd name="connsiteY0" fmla="*/ 0 h 6138000"/>
              <a:gd name="connsiteX1" fmla="*/ 7727922 w 7727922"/>
              <a:gd name="connsiteY1" fmla="*/ 0 h 6138000"/>
              <a:gd name="connsiteX2" fmla="*/ 7727922 w 7727922"/>
              <a:gd name="connsiteY2" fmla="*/ 6138000 h 6138000"/>
              <a:gd name="connsiteX3" fmla="*/ 5320801 w 7727922"/>
              <a:gd name="connsiteY3" fmla="*/ 6138000 h 6138000"/>
              <a:gd name="connsiteX4" fmla="*/ 0 w 7727922"/>
              <a:gd name="connsiteY4" fmla="*/ 817199 h 6138000"/>
              <a:gd name="connsiteX5" fmla="*/ 817199 w 7727922"/>
              <a:gd name="connsiteY5" fmla="*/ 0 h 613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27922" h="6138000">
                <a:moveTo>
                  <a:pt x="817199" y="0"/>
                </a:moveTo>
                <a:lnTo>
                  <a:pt x="7727922" y="0"/>
                </a:lnTo>
                <a:lnTo>
                  <a:pt x="7727922" y="6138000"/>
                </a:lnTo>
                <a:lnTo>
                  <a:pt x="5320801" y="6138000"/>
                </a:lnTo>
                <a:lnTo>
                  <a:pt x="0" y="817199"/>
                </a:lnTo>
                <a:lnTo>
                  <a:pt x="81719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 userDrawn="1"/>
        </p:nvSpPr>
        <p:spPr>
          <a:xfrm>
            <a:off x="5281278" y="0"/>
            <a:ext cx="6910723" cy="720000"/>
          </a:xfrm>
          <a:custGeom>
            <a:avLst/>
            <a:gdLst>
              <a:gd name="connsiteX0" fmla="*/ 719999 w 6910723"/>
              <a:gd name="connsiteY0" fmla="*/ 0 h 720000"/>
              <a:gd name="connsiteX1" fmla="*/ 6910723 w 6910723"/>
              <a:gd name="connsiteY1" fmla="*/ 0 h 720000"/>
              <a:gd name="connsiteX2" fmla="*/ 6910723 w 6910723"/>
              <a:gd name="connsiteY2" fmla="*/ 720000 h 720000"/>
              <a:gd name="connsiteX3" fmla="*/ 0 w 6910723"/>
              <a:gd name="connsiteY3" fmla="*/ 72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10723" h="720000">
                <a:moveTo>
                  <a:pt x="719999" y="0"/>
                </a:moveTo>
                <a:lnTo>
                  <a:pt x="6910723" y="0"/>
                </a:lnTo>
                <a:lnTo>
                  <a:pt x="6910723" y="720000"/>
                </a:lnTo>
                <a:lnTo>
                  <a:pt x="0" y="72000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 33"/>
          <p:cNvSpPr/>
          <p:nvPr userDrawn="1"/>
        </p:nvSpPr>
        <p:spPr>
          <a:xfrm>
            <a:off x="-1" y="0"/>
            <a:ext cx="3599543" cy="6858000"/>
          </a:xfrm>
          <a:custGeom>
            <a:avLst/>
            <a:gdLst>
              <a:gd name="connsiteX0" fmla="*/ 0 w 3599543"/>
              <a:gd name="connsiteY0" fmla="*/ 0 h 6858000"/>
              <a:gd name="connsiteX1" fmla="*/ 3599543 w 3599543"/>
              <a:gd name="connsiteY1" fmla="*/ 3425372 h 6858000"/>
              <a:gd name="connsiteX2" fmla="*/ 0 w 3599543"/>
              <a:gd name="connsiteY2" fmla="*/ 6858000 h 6858000"/>
              <a:gd name="connsiteX3" fmla="*/ 0 w 3599543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9543" h="6858000">
                <a:moveTo>
                  <a:pt x="0" y="0"/>
                </a:moveTo>
                <a:lnTo>
                  <a:pt x="3599543" y="34253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3B3C41"/>
          </a:solidFill>
          <a:ln>
            <a:solidFill>
              <a:srgbClr val="3B3C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 userDrawn="1"/>
        </p:nvSpPr>
        <p:spPr>
          <a:xfrm>
            <a:off x="7964128" y="0"/>
            <a:ext cx="9189182" cy="6858000"/>
          </a:xfrm>
          <a:custGeom>
            <a:avLst/>
            <a:gdLst>
              <a:gd name="connsiteX0" fmla="*/ 0 w 9189182"/>
              <a:gd name="connsiteY0" fmla="*/ 0 h 6858000"/>
              <a:gd name="connsiteX1" fmla="*/ 5589639 w 9189182"/>
              <a:gd name="connsiteY1" fmla="*/ 0 h 6858000"/>
              <a:gd name="connsiteX2" fmla="*/ 9189182 w 9189182"/>
              <a:gd name="connsiteY2" fmla="*/ 3425372 h 6858000"/>
              <a:gd name="connsiteX3" fmla="*/ 5589639 w 9189182"/>
              <a:gd name="connsiteY3" fmla="*/ 6858000 h 6858000"/>
              <a:gd name="connsiteX4" fmla="*/ 0 w 9189182"/>
              <a:gd name="connsiteY4" fmla="*/ 6858000 h 6858000"/>
              <a:gd name="connsiteX5" fmla="*/ 3599543 w 9189182"/>
              <a:gd name="connsiteY5" fmla="*/ 3425372 h 6858000"/>
              <a:gd name="connsiteX6" fmla="*/ 0 w 918918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89182" h="6858000">
                <a:moveTo>
                  <a:pt x="0" y="0"/>
                </a:moveTo>
                <a:lnTo>
                  <a:pt x="5589639" y="0"/>
                </a:lnTo>
                <a:lnTo>
                  <a:pt x="9189182" y="3425372"/>
                </a:lnTo>
                <a:lnTo>
                  <a:pt x="5589639" y="6858000"/>
                </a:lnTo>
                <a:lnTo>
                  <a:pt x="0" y="6858000"/>
                </a:lnTo>
                <a:lnTo>
                  <a:pt x="3599543" y="3425372"/>
                </a:lnTo>
                <a:lnTo>
                  <a:pt x="0" y="0"/>
                </a:lnTo>
                <a:close/>
              </a:path>
            </a:pathLst>
          </a:custGeom>
          <a:solidFill>
            <a:srgbClr val="3B3C41"/>
          </a:solidFill>
          <a:ln>
            <a:solidFill>
              <a:srgbClr val="3B3C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 userDrawn="1"/>
        </p:nvSpPr>
        <p:spPr>
          <a:xfrm>
            <a:off x="-1" y="0"/>
            <a:ext cx="5649570" cy="6858000"/>
          </a:xfrm>
          <a:custGeom>
            <a:avLst/>
            <a:gdLst>
              <a:gd name="connsiteX0" fmla="*/ 0 w 5649570"/>
              <a:gd name="connsiteY0" fmla="*/ 0 h 6858000"/>
              <a:gd name="connsiteX1" fmla="*/ 2050027 w 5649570"/>
              <a:gd name="connsiteY1" fmla="*/ 0 h 6858000"/>
              <a:gd name="connsiteX2" fmla="*/ 5649570 w 5649570"/>
              <a:gd name="connsiteY2" fmla="*/ 3425372 h 6858000"/>
              <a:gd name="connsiteX3" fmla="*/ 2050027 w 5649570"/>
              <a:gd name="connsiteY3" fmla="*/ 6858000 h 6858000"/>
              <a:gd name="connsiteX4" fmla="*/ 0 w 5649570"/>
              <a:gd name="connsiteY4" fmla="*/ 6858000 h 6858000"/>
              <a:gd name="connsiteX5" fmla="*/ 3599543 w 5649570"/>
              <a:gd name="connsiteY5" fmla="*/ 3425372 h 6858000"/>
              <a:gd name="connsiteX6" fmla="*/ 0 w 564957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49570" h="6858000">
                <a:moveTo>
                  <a:pt x="0" y="0"/>
                </a:moveTo>
                <a:lnTo>
                  <a:pt x="2050027" y="0"/>
                </a:lnTo>
                <a:lnTo>
                  <a:pt x="5649570" y="3425372"/>
                </a:lnTo>
                <a:lnTo>
                  <a:pt x="2050027" y="6858000"/>
                </a:lnTo>
                <a:lnTo>
                  <a:pt x="0" y="6858000"/>
                </a:lnTo>
                <a:lnTo>
                  <a:pt x="3599543" y="34253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rgbClr val="3B3C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 userDrawn="1"/>
        </p:nvSpPr>
        <p:spPr>
          <a:xfrm>
            <a:off x="-1" y="2413000"/>
            <a:ext cx="3599543" cy="2032000"/>
          </a:xfrm>
          <a:custGeom>
            <a:avLst/>
            <a:gdLst>
              <a:gd name="connsiteX0" fmla="*/ 0 w 3599543"/>
              <a:gd name="connsiteY0" fmla="*/ 0 h 2032000"/>
              <a:gd name="connsiteX1" fmla="*/ 2535695 w 3599543"/>
              <a:gd name="connsiteY1" fmla="*/ 0 h 2032000"/>
              <a:gd name="connsiteX2" fmla="*/ 3599543 w 3599543"/>
              <a:gd name="connsiteY2" fmla="*/ 1012372 h 2032000"/>
              <a:gd name="connsiteX3" fmla="*/ 2530335 w 3599543"/>
              <a:gd name="connsiteY3" fmla="*/ 2032000 h 2032000"/>
              <a:gd name="connsiteX4" fmla="*/ 0 w 3599543"/>
              <a:gd name="connsiteY4" fmla="*/ 2032000 h 20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9543" h="2032000">
                <a:moveTo>
                  <a:pt x="0" y="0"/>
                </a:moveTo>
                <a:lnTo>
                  <a:pt x="2535695" y="0"/>
                </a:lnTo>
                <a:lnTo>
                  <a:pt x="3599543" y="1012372"/>
                </a:lnTo>
                <a:lnTo>
                  <a:pt x="2530335" y="2032000"/>
                </a:lnTo>
                <a:lnTo>
                  <a:pt x="0" y="2032000"/>
                </a:lnTo>
                <a:close/>
              </a:path>
            </a:pathLst>
          </a:custGeom>
          <a:solidFill>
            <a:srgbClr val="EF5B30"/>
          </a:solidFill>
          <a:ln>
            <a:solidFill>
              <a:srgbClr val="EF5B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18" r="12819"/>
          <a:stretch>
            <a:fillRect/>
          </a:stretch>
        </p:blipFill>
        <p:spPr>
          <a:xfrm>
            <a:off x="-1" y="0"/>
            <a:ext cx="5649570" cy="6858000"/>
          </a:xfrm>
          <a:custGeom>
            <a:avLst/>
            <a:gdLst>
              <a:gd name="connsiteX0" fmla="*/ 0 w 5649570"/>
              <a:gd name="connsiteY0" fmla="*/ 0 h 6858000"/>
              <a:gd name="connsiteX1" fmla="*/ 2050027 w 5649570"/>
              <a:gd name="connsiteY1" fmla="*/ 0 h 6858000"/>
              <a:gd name="connsiteX2" fmla="*/ 5649570 w 5649570"/>
              <a:gd name="connsiteY2" fmla="*/ 3425372 h 6858000"/>
              <a:gd name="connsiteX3" fmla="*/ 2050027 w 5649570"/>
              <a:gd name="connsiteY3" fmla="*/ 6858000 h 6858000"/>
              <a:gd name="connsiteX4" fmla="*/ 0 w 5649570"/>
              <a:gd name="connsiteY4" fmla="*/ 6858000 h 6858000"/>
              <a:gd name="connsiteX5" fmla="*/ 3599543 w 5649570"/>
              <a:gd name="connsiteY5" fmla="*/ 34253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49570" h="6858000">
                <a:moveTo>
                  <a:pt x="0" y="0"/>
                </a:moveTo>
                <a:lnTo>
                  <a:pt x="2050027" y="0"/>
                </a:lnTo>
                <a:lnTo>
                  <a:pt x="5649570" y="3425372"/>
                </a:lnTo>
                <a:lnTo>
                  <a:pt x="2050027" y="6858000"/>
                </a:lnTo>
                <a:lnTo>
                  <a:pt x="0" y="6858000"/>
                </a:lnTo>
                <a:lnTo>
                  <a:pt x="3599543" y="3425372"/>
                </a:lnTo>
                <a:close/>
              </a:path>
            </a:pathLst>
          </a:custGeom>
        </p:spPr>
      </p:pic>
      <p:sp>
        <p:nvSpPr>
          <p:cNvPr id="34" name="任意多边形 33"/>
          <p:cNvSpPr/>
          <p:nvPr userDrawn="1"/>
        </p:nvSpPr>
        <p:spPr>
          <a:xfrm>
            <a:off x="-1" y="0"/>
            <a:ext cx="3599543" cy="6858000"/>
          </a:xfrm>
          <a:custGeom>
            <a:avLst/>
            <a:gdLst>
              <a:gd name="connsiteX0" fmla="*/ 0 w 3599543"/>
              <a:gd name="connsiteY0" fmla="*/ 0 h 6858000"/>
              <a:gd name="connsiteX1" fmla="*/ 3599543 w 3599543"/>
              <a:gd name="connsiteY1" fmla="*/ 3425372 h 6858000"/>
              <a:gd name="connsiteX2" fmla="*/ 0 w 3599543"/>
              <a:gd name="connsiteY2" fmla="*/ 6858000 h 6858000"/>
              <a:gd name="connsiteX3" fmla="*/ 0 w 3599543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9543" h="6858000">
                <a:moveTo>
                  <a:pt x="0" y="0"/>
                </a:moveTo>
                <a:lnTo>
                  <a:pt x="3599543" y="34253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3B3C41"/>
          </a:solidFill>
          <a:ln>
            <a:solidFill>
              <a:srgbClr val="3B3C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 userDrawn="1"/>
        </p:nvSpPr>
        <p:spPr>
          <a:xfrm>
            <a:off x="-1" y="2413000"/>
            <a:ext cx="3599543" cy="2032000"/>
          </a:xfrm>
          <a:custGeom>
            <a:avLst/>
            <a:gdLst>
              <a:gd name="connsiteX0" fmla="*/ 0 w 3599543"/>
              <a:gd name="connsiteY0" fmla="*/ 0 h 2032000"/>
              <a:gd name="connsiteX1" fmla="*/ 2535695 w 3599543"/>
              <a:gd name="connsiteY1" fmla="*/ 0 h 2032000"/>
              <a:gd name="connsiteX2" fmla="*/ 3599543 w 3599543"/>
              <a:gd name="connsiteY2" fmla="*/ 1012372 h 2032000"/>
              <a:gd name="connsiteX3" fmla="*/ 2530335 w 3599543"/>
              <a:gd name="connsiteY3" fmla="*/ 2032000 h 2032000"/>
              <a:gd name="connsiteX4" fmla="*/ 0 w 3599543"/>
              <a:gd name="connsiteY4" fmla="*/ 2032000 h 20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9543" h="2032000">
                <a:moveTo>
                  <a:pt x="0" y="0"/>
                </a:moveTo>
                <a:lnTo>
                  <a:pt x="2535695" y="0"/>
                </a:lnTo>
                <a:lnTo>
                  <a:pt x="3599543" y="1012372"/>
                </a:lnTo>
                <a:lnTo>
                  <a:pt x="2530335" y="2032000"/>
                </a:lnTo>
                <a:lnTo>
                  <a:pt x="0" y="2032000"/>
                </a:lnTo>
                <a:close/>
              </a:path>
            </a:pathLst>
          </a:custGeom>
          <a:solidFill>
            <a:srgbClr val="EF5B30"/>
          </a:solidFill>
          <a:ln>
            <a:solidFill>
              <a:srgbClr val="EF5B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 userDrawn="1"/>
        </p:nvSpPr>
        <p:spPr>
          <a:xfrm>
            <a:off x="10496550" y="-19050"/>
            <a:ext cx="1695450" cy="3444422"/>
          </a:xfrm>
          <a:custGeom>
            <a:avLst/>
            <a:gdLst>
              <a:gd name="connsiteX0" fmla="*/ 0 w 1981200"/>
              <a:gd name="connsiteY0" fmla="*/ 3425372 h 3425372"/>
              <a:gd name="connsiteX1" fmla="*/ 990600 w 1981200"/>
              <a:gd name="connsiteY1" fmla="*/ 0 h 3425372"/>
              <a:gd name="connsiteX2" fmla="*/ 1981200 w 1981200"/>
              <a:gd name="connsiteY2" fmla="*/ 3425372 h 3425372"/>
              <a:gd name="connsiteX3" fmla="*/ 0 w 1981200"/>
              <a:gd name="connsiteY3" fmla="*/ 3425372 h 3425372"/>
              <a:gd name="connsiteX0-1" fmla="*/ 0 w 1981200"/>
              <a:gd name="connsiteY0-2" fmla="*/ 3444422 h 3444422"/>
              <a:gd name="connsiteX1-3" fmla="*/ 1981200 w 1981200"/>
              <a:gd name="connsiteY1-4" fmla="*/ 0 h 3444422"/>
              <a:gd name="connsiteX2-5" fmla="*/ 1981200 w 1981200"/>
              <a:gd name="connsiteY2-6" fmla="*/ 3444422 h 3444422"/>
              <a:gd name="connsiteX3-7" fmla="*/ 0 w 1981200"/>
              <a:gd name="connsiteY3-8" fmla="*/ 3444422 h 3444422"/>
              <a:gd name="connsiteX0-9" fmla="*/ 0 w 1695450"/>
              <a:gd name="connsiteY0-10" fmla="*/ 15422 h 3444422"/>
              <a:gd name="connsiteX1-11" fmla="*/ 1695450 w 1695450"/>
              <a:gd name="connsiteY1-12" fmla="*/ 0 h 3444422"/>
              <a:gd name="connsiteX2-13" fmla="*/ 1695450 w 1695450"/>
              <a:gd name="connsiteY2-14" fmla="*/ 3444422 h 3444422"/>
              <a:gd name="connsiteX3-15" fmla="*/ 0 w 1695450"/>
              <a:gd name="connsiteY3-16" fmla="*/ 15422 h 34444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450" h="3444422">
                <a:moveTo>
                  <a:pt x="0" y="15422"/>
                </a:moveTo>
                <a:lnTo>
                  <a:pt x="1695450" y="0"/>
                </a:lnTo>
                <a:lnTo>
                  <a:pt x="1695450" y="3444422"/>
                </a:lnTo>
                <a:lnTo>
                  <a:pt x="0" y="15422"/>
                </a:lnTo>
                <a:close/>
              </a:path>
            </a:pathLst>
          </a:custGeom>
          <a:solidFill>
            <a:srgbClr val="3B3C41"/>
          </a:solidFill>
          <a:ln>
            <a:solidFill>
              <a:srgbClr val="3B3C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8648700" y="3448050"/>
            <a:ext cx="3543300" cy="3402694"/>
          </a:xfrm>
          <a:prstGeom prst="triangle">
            <a:avLst>
              <a:gd name="adj" fmla="val 100000"/>
            </a:avLst>
          </a:prstGeom>
          <a:solidFill>
            <a:srgbClr val="3B3C41"/>
          </a:solidFill>
          <a:ln>
            <a:solidFill>
              <a:srgbClr val="3B3C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3761921" y="1333500"/>
            <a:ext cx="1725269" cy="17145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4005489" y="1333500"/>
            <a:ext cx="1887648" cy="18758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 flipV="1">
            <a:off x="3883705" y="3668432"/>
            <a:ext cx="1725269" cy="17145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flipV="1">
            <a:off x="4127273" y="3507067"/>
            <a:ext cx="1887648" cy="18758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16" grpId="0" animBg="1"/>
      <p:bldP spid="5" grpId="0" animBg="1"/>
      <p:bldP spid="11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比拓外贸圈，伴你走过外贸从零到一的每一步！（外贸干货培训，外贸人才招聘，阿里巴巴国际站开通，请联系微信：</a:t>
            </a:r>
            <a:r>
              <a:rPr lang="en-US" altLang="zh-CN"/>
              <a:t>betop666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D3D7C-781B-49F5-AB6D-6CD145C79A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比拓外贸圈，伴你走过外贸从零到一的每一步！（外贸干货培训，外贸人才招聘，阿里巴巴国际站开通，请联系微信：</a:t>
            </a:r>
            <a:r>
              <a:rPr lang="en-US" altLang="zh-CN"/>
              <a:t>betop666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D3D7C-781B-49F5-AB6D-6CD145C79A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比拓外贸圈，伴你走过外贸从零到一的每一步！（外贸干货培训，外贸人才招聘，阿里巴巴国际站开通，请联系微信：</a:t>
            </a:r>
            <a:r>
              <a:rPr lang="en-US" altLang="zh-CN"/>
              <a:t>betop666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D3D7C-781B-49F5-AB6D-6CD145C79A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比拓外贸圈，伴你走过外贸从零到一的每一步！（外贸干货培训，外贸人才招聘，阿里巴巴国际站开通，请联系微信：</a:t>
            </a:r>
            <a:r>
              <a:rPr lang="en-US" altLang="zh-CN"/>
              <a:t>betop666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D3D7C-781B-49F5-AB6D-6CD145C79A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比拓外贸圈，伴你走过外贸从零到一的每一步！（外贸干货培训，外贸人才招聘，阿里巴巴国际站开通，请联系微信：</a:t>
            </a:r>
            <a:r>
              <a:rPr lang="en-US" altLang="zh-CN"/>
              <a:t>betop666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D3D7C-781B-49F5-AB6D-6CD145C79A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比拓外贸圈，伴你走过外贸从零到一的每一步！（外贸干货培训，外贸人才招聘，阿里巴巴国际站开通，请联系微信：</a:t>
            </a:r>
            <a:r>
              <a:rPr lang="en-US" altLang="zh-CN"/>
              <a:t>betop666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D3D7C-781B-49F5-AB6D-6CD145C79A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比拓外贸圈，伴你走过外贸从零到一的每一步！（外贸干货培训，外贸人才招聘，阿里巴巴国际站开通，请联系微信：</a:t>
            </a:r>
            <a:r>
              <a:rPr lang="en-US" altLang="zh-CN"/>
              <a:t>betop666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D3D7C-781B-49F5-AB6D-6CD145C79A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microsoft.com/office/2007/relationships/media" Target="../media/media1.m4a"/><Relationship Id="rId1" Type="http://schemas.openxmlformats.org/officeDocument/2006/relationships/audio" Target="../media/media1.m4a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321435" y="2012315"/>
            <a:ext cx="80772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XXX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国家拜访总结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纯音乐 - 轻快节奏唯美钢琴曲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2896850" y="236598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5000"/>
    </mc:Choice>
    <mc:Fallback>
      <p:transition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9466" y="0"/>
            <a:ext cx="1432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目 录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645838" y="87313"/>
            <a:ext cx="2256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contents</a:t>
            </a:r>
            <a:endParaRPr lang="zh-CN" altLang="en-US" sz="3600" b="1" dirty="0"/>
          </a:p>
        </p:txBody>
      </p:sp>
      <p:sp>
        <p:nvSpPr>
          <p:cNvPr id="17" name="菱形 16"/>
          <p:cNvSpPr/>
          <p:nvPr/>
        </p:nvSpPr>
        <p:spPr>
          <a:xfrm>
            <a:off x="2550018" y="1983346"/>
            <a:ext cx="2021983" cy="2021983"/>
          </a:xfrm>
          <a:prstGeom prst="diamond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菱形 17"/>
          <p:cNvSpPr/>
          <p:nvPr/>
        </p:nvSpPr>
        <p:spPr>
          <a:xfrm>
            <a:off x="2550018" y="4095482"/>
            <a:ext cx="2021983" cy="2021983"/>
          </a:xfrm>
          <a:prstGeom prst="diamond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菱形 18"/>
          <p:cNvSpPr/>
          <p:nvPr/>
        </p:nvSpPr>
        <p:spPr>
          <a:xfrm>
            <a:off x="1481071" y="3045853"/>
            <a:ext cx="2021983" cy="2021983"/>
          </a:xfrm>
          <a:prstGeom prst="diamond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菱形 19"/>
          <p:cNvSpPr/>
          <p:nvPr/>
        </p:nvSpPr>
        <p:spPr>
          <a:xfrm>
            <a:off x="3618965" y="3045853"/>
            <a:ext cx="2021983" cy="2021983"/>
          </a:xfrm>
          <a:prstGeom prst="diamond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4749759" y="892667"/>
            <a:ext cx="386366" cy="386366"/>
          </a:xfrm>
          <a:prstGeom prst="ellipse">
            <a:avLst/>
          </a:prstGeom>
          <a:solidFill>
            <a:srgbClr val="F15B31"/>
          </a:solidFill>
          <a:ln>
            <a:solidFill>
              <a:srgbClr val="F15B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297782" y="1646886"/>
            <a:ext cx="386366" cy="386366"/>
          </a:xfrm>
          <a:prstGeom prst="ellipse">
            <a:avLst/>
          </a:prstGeom>
          <a:solidFill>
            <a:srgbClr val="F15B31"/>
          </a:solidFill>
          <a:ln>
            <a:solidFill>
              <a:srgbClr val="F15B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5883905" y="2305855"/>
            <a:ext cx="386366" cy="386366"/>
          </a:xfrm>
          <a:prstGeom prst="ellipse">
            <a:avLst/>
          </a:prstGeom>
          <a:solidFill>
            <a:srgbClr val="F15B31"/>
          </a:solidFill>
          <a:ln>
            <a:solidFill>
              <a:srgbClr val="F15B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6603378" y="3155324"/>
            <a:ext cx="386366" cy="386366"/>
          </a:xfrm>
          <a:prstGeom prst="ellipse">
            <a:avLst/>
          </a:prstGeom>
          <a:solidFill>
            <a:srgbClr val="F15B31"/>
          </a:solidFill>
          <a:ln>
            <a:solidFill>
              <a:srgbClr val="F15B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048651" y="839721"/>
            <a:ext cx="308448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拜访时间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111577" y="824240"/>
            <a:ext cx="785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>
                <a:solidFill>
                  <a:schemeClr val="bg1"/>
                </a:solidFill>
              </a:rPr>
              <a:t>01</a:t>
            </a:r>
            <a:endParaRPr lang="zh-CN" altLang="en-US" sz="2800" b="1" i="1" dirty="0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640689" y="1517234"/>
            <a:ext cx="785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>
                <a:solidFill>
                  <a:schemeClr val="bg1"/>
                </a:solidFill>
              </a:rPr>
              <a:t>02</a:t>
            </a:r>
            <a:endParaRPr lang="zh-CN" altLang="en-US" sz="2800" b="1" i="1" dirty="0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229502" y="2278654"/>
            <a:ext cx="785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>
                <a:solidFill>
                  <a:schemeClr val="bg1"/>
                </a:solidFill>
              </a:rPr>
              <a:t>03</a:t>
            </a:r>
            <a:endParaRPr lang="zh-CN" altLang="en-US" sz="2800" b="1" i="1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923478" y="3058061"/>
            <a:ext cx="785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>
                <a:solidFill>
                  <a:schemeClr val="bg1"/>
                </a:solidFill>
              </a:rPr>
              <a:t>04</a:t>
            </a:r>
            <a:endParaRPr lang="zh-CN" altLang="en-US" sz="2800" b="1" i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274430" y="1531406"/>
            <a:ext cx="308448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行程路线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860553" y="2264251"/>
            <a:ext cx="308448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客户拜访情况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793067" y="3041196"/>
            <a:ext cx="308448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市场情况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7244057" y="3936061"/>
            <a:ext cx="386366" cy="386366"/>
          </a:xfrm>
          <a:prstGeom prst="ellipse">
            <a:avLst/>
          </a:prstGeom>
          <a:solidFill>
            <a:srgbClr val="F15B31"/>
          </a:solidFill>
          <a:ln>
            <a:solidFill>
              <a:srgbClr val="F15B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7915905" y="4795055"/>
            <a:ext cx="386366" cy="386366"/>
          </a:xfrm>
          <a:prstGeom prst="ellipse">
            <a:avLst/>
          </a:prstGeom>
          <a:solidFill>
            <a:srgbClr val="F15B31"/>
          </a:solidFill>
          <a:ln>
            <a:solidFill>
              <a:srgbClr val="F15B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721103" y="5692149"/>
            <a:ext cx="386366" cy="386366"/>
          </a:xfrm>
          <a:prstGeom prst="ellipse">
            <a:avLst/>
          </a:prstGeom>
          <a:solidFill>
            <a:srgbClr val="F15B31"/>
          </a:solidFill>
          <a:ln>
            <a:solidFill>
              <a:srgbClr val="F15B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10764" y="3882609"/>
            <a:ext cx="785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>
                <a:solidFill>
                  <a:schemeClr val="bg1"/>
                </a:solidFill>
              </a:rPr>
              <a:t>05</a:t>
            </a:r>
            <a:endParaRPr lang="zh-CN" altLang="en-US" sz="2800" b="1" i="1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61502" y="4672604"/>
            <a:ext cx="785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>
                <a:solidFill>
                  <a:schemeClr val="bg1"/>
                </a:solidFill>
              </a:rPr>
              <a:t>06</a:t>
            </a:r>
            <a:endParaRPr lang="zh-CN" altLang="en-US" sz="2800" b="1" i="1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22153" y="5547261"/>
            <a:ext cx="785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>
                <a:solidFill>
                  <a:schemeClr val="bg1"/>
                </a:solidFill>
              </a:rPr>
              <a:t>07</a:t>
            </a:r>
            <a:endParaRPr lang="zh-CN" altLang="en-US" sz="2800" b="1" i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44505" y="3868206"/>
            <a:ext cx="308448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拜访费用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92553" y="4648676"/>
            <a:ext cx="308448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亮点、暗点分析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807575" y="5490210"/>
            <a:ext cx="22390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对后续拜访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+mn-ea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的建议</a:t>
            </a:r>
            <a:endParaRPr lang="zh-CN" altLang="en-US" sz="2800" b="1" dirty="0">
              <a:solidFill>
                <a:schemeClr val="bg1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 advTm="5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399"/>
                            </p:stCondLst>
                            <p:childTnLst>
                              <p:par>
                                <p:cTn id="3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899"/>
                            </p:stCondLst>
                            <p:childTnLst>
                              <p:par>
                                <p:cTn id="4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299"/>
                            </p:stCondLst>
                            <p:childTnLst>
                              <p:par>
                                <p:cTn id="5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799"/>
                            </p:stCondLst>
                            <p:childTnLst>
                              <p:par>
                                <p:cTn id="5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99"/>
                            </p:stCondLst>
                            <p:childTnLst>
                              <p:par>
                                <p:cTn id="6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799"/>
                            </p:stCondLst>
                            <p:childTnLst>
                              <p:par>
                                <p:cTn id="6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199"/>
                            </p:stCondLst>
                            <p:childTnLst>
                              <p:par>
                                <p:cTn id="7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699"/>
                            </p:stCondLst>
                            <p:childTnLst>
                              <p:par>
                                <p:cTn id="8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99"/>
                            </p:stCondLst>
                            <p:childTnLst>
                              <p:par>
                                <p:cTn id="9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599"/>
                            </p:stCondLst>
                            <p:childTnLst>
                              <p:par>
                                <p:cTn id="9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150"/>
                            </p:stCondLst>
                            <p:childTnLst>
                              <p:par>
                                <p:cTn id="10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650"/>
                            </p:stCondLst>
                            <p:childTnLst>
                              <p:par>
                                <p:cTn id="10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bldLvl="0" animBg="1"/>
      <p:bldP spid="22" grpId="0" bldLvl="0" animBg="1"/>
      <p:bldP spid="23" grpId="0" bldLvl="0" animBg="1"/>
      <p:bldP spid="24" grpId="0" bldLvl="0" animBg="1"/>
      <p:bldP spid="26" grpId="0"/>
      <p:bldP spid="27" grpId="0"/>
      <p:bldP spid="30" grpId="0"/>
      <p:bldP spid="32" grpId="0"/>
      <p:bldP spid="34" grpId="0"/>
      <p:bldP spid="35" grpId="0"/>
      <p:bldP spid="36" grpId="0"/>
      <p:bldP spid="37" grpId="0"/>
      <p:bldP spid="2" grpId="0" bldLvl="0" animBg="1"/>
      <p:bldP spid="3" grpId="0" bldLvl="0" animBg="1"/>
      <p:bldP spid="6" grpId="0" bldLvl="0" animBg="1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6145"/>
          <p:cNvSpPr>
            <a:spLocks noGrp="1"/>
          </p:cNvSpPr>
          <p:nvPr>
            <p:ph type="title"/>
          </p:nvPr>
        </p:nvSpPr>
        <p:spPr>
          <a:xfrm>
            <a:off x="1318895" y="69850"/>
            <a:ext cx="4477385" cy="661035"/>
          </a:xfrm>
        </p:spPr>
        <p:txBody>
          <a:bodyPr anchor="ctr"/>
          <a:lstStyle/>
          <a:p>
            <a:pPr algn="l"/>
            <a:r>
              <a:rPr lang="zh-CN" altLang="en-US" sz="3200" dirty="0">
                <a:latin typeface="宋体" panose="02010600030101010101" pitchFamily="2" charset="-122"/>
              </a:rPr>
              <a:t>一、拜访时间</a:t>
            </a:r>
            <a:endParaRPr lang="zh-CN" altLang="en-US" sz="3200" b="0" dirty="0">
              <a:solidFill>
                <a:schemeClr val="tx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占位符 6146"/>
          <p:cNvSpPr>
            <a:spLocks noGrp="1"/>
          </p:cNvSpPr>
          <p:nvPr>
            <p:ph idx="1"/>
          </p:nvPr>
        </p:nvSpPr>
        <p:spPr>
          <a:xfrm>
            <a:off x="1631950" y="1414463"/>
            <a:ext cx="9036050" cy="1150937"/>
          </a:xfrm>
        </p:spPr>
        <p:txBody>
          <a:bodyPr anchor="t"/>
          <a:lstStyle/>
          <a:p>
            <a:r>
              <a:rPr lang="zh-CN" altLang="en-US" sz="1200" dirty="0"/>
              <a:t>   </a:t>
            </a:r>
            <a:endParaRPr lang="zh-CN" altLang="en-US" sz="1200" dirty="0"/>
          </a:p>
          <a:p>
            <a:endParaRPr lang="zh-CN" altLang="en-US" sz="1200" dirty="0"/>
          </a:p>
        </p:txBody>
      </p:sp>
      <p:sp>
        <p:nvSpPr>
          <p:cNvPr id="6147" name="矩形 6147"/>
          <p:cNvSpPr>
            <a:spLocks noGrp="1"/>
          </p:cNvSpPr>
          <p:nvPr/>
        </p:nvSpPr>
        <p:spPr>
          <a:xfrm>
            <a:off x="1331595" y="0"/>
            <a:ext cx="3650615" cy="8013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二、行程路线</a:t>
            </a:r>
            <a:endParaRPr lang="zh-CN" altLang="en-US" sz="32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占位符 6146"/>
          <p:cNvSpPr>
            <a:spLocks noGrp="1"/>
          </p:cNvSpPr>
          <p:nvPr>
            <p:ph idx="1"/>
          </p:nvPr>
        </p:nvSpPr>
        <p:spPr>
          <a:xfrm>
            <a:off x="1631950" y="1414463"/>
            <a:ext cx="9036050" cy="1150937"/>
          </a:xfrm>
        </p:spPr>
        <p:txBody>
          <a:bodyPr anchor="t"/>
          <a:lstStyle/>
          <a:p>
            <a:r>
              <a:rPr lang="zh-CN" altLang="en-US" sz="1200" dirty="0"/>
              <a:t>   </a:t>
            </a:r>
            <a:endParaRPr lang="zh-CN" altLang="en-US" sz="1200" dirty="0"/>
          </a:p>
          <a:p>
            <a:endParaRPr lang="zh-CN" altLang="en-US" sz="1200" dirty="0"/>
          </a:p>
        </p:txBody>
      </p:sp>
      <p:graphicFrame>
        <p:nvGraphicFramePr>
          <p:cNvPr id="7170" name="表格 7169"/>
          <p:cNvGraphicFramePr/>
          <p:nvPr>
            <p:custDataLst>
              <p:tags r:id="rId1"/>
            </p:custDataLst>
          </p:nvPr>
        </p:nvGraphicFramePr>
        <p:xfrm>
          <a:off x="1332230" y="1067435"/>
          <a:ext cx="9233535" cy="4093210"/>
        </p:xfrm>
        <a:graphic>
          <a:graphicData uri="http://schemas.openxmlformats.org/drawingml/2006/table">
            <a:tbl>
              <a:tblPr/>
              <a:tblGrid>
                <a:gridCol w="1169035"/>
                <a:gridCol w="1011555"/>
                <a:gridCol w="1066800"/>
                <a:gridCol w="1052195"/>
                <a:gridCol w="913765"/>
                <a:gridCol w="1127760"/>
                <a:gridCol w="859155"/>
                <a:gridCol w="1029970"/>
                <a:gridCol w="1003300"/>
              </a:tblGrid>
              <a:tr h="909320"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charset="-122"/>
                          <a:ea typeface="微软雅黑" panose="020B0503020204020204" charset="-122"/>
                          <a:sym typeface="宋体" panose="02010600030101010101" pitchFamily="2" charset="-122"/>
                        </a:rPr>
                        <a:t>国家</a:t>
                      </a: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u="none">
                          <a:latin typeface="微软雅黑" panose="020B0503020204020204" charset="-122"/>
                          <a:ea typeface="微软雅黑" panose="020B0503020204020204" charset="-122"/>
                          <a:sym typeface="宋体" panose="02010600030101010101" pitchFamily="2" charset="-122"/>
                        </a:rPr>
                        <a:t>城市</a:t>
                      </a:r>
                      <a:endParaRPr lang="zh-CN" altLang="en-US" sz="18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charset="-122"/>
                          <a:ea typeface="微软雅黑" panose="020B0503020204020204" charset="-122"/>
                          <a:sym typeface="宋体" panose="02010600030101010101" pitchFamily="2" charset="-122"/>
                        </a:rPr>
                        <a:t>总拜访数</a:t>
                      </a: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>
                          <a:latin typeface="微软雅黑" panose="020B0503020204020204" charset="-122"/>
                          <a:ea typeface="微软雅黑" panose="020B0503020204020204" charset="-122"/>
                          <a:sym typeface="宋体" panose="02010600030101010101" pitchFamily="2" charset="-122"/>
                        </a:rPr>
                        <a:t>中断客户</a:t>
                      </a: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微软雅黑" panose="020B0503020204020204" charset="-122"/>
                          <a:ea typeface="微软雅黑" panose="020B0503020204020204" charset="-122"/>
                          <a:sym typeface="宋体" panose="02010600030101010101" pitchFamily="2" charset="-122"/>
                        </a:rPr>
                        <a:t>正常合作客户</a:t>
                      </a: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微软雅黑" panose="020B0503020204020204" charset="-122"/>
                          <a:ea typeface="微软雅黑" panose="020B0503020204020204" charset="-122"/>
                          <a:sym typeface="宋体" panose="02010600030101010101" pitchFamily="2" charset="-122"/>
                        </a:rPr>
                        <a:t>发样客户</a:t>
                      </a: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1600" b="1" u="none">
                          <a:latin typeface="微软雅黑" panose="020B0503020204020204" charset="-122"/>
                          <a:ea typeface="微软雅黑" panose="020B0503020204020204" charset="-122"/>
                          <a:sym typeface="宋体" panose="02010600030101010101" pitchFamily="2" charset="-122"/>
                        </a:rPr>
                        <a:t>未成交未发样</a:t>
                      </a: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charset="-122"/>
                          <a:ea typeface="微软雅黑" panose="020B0503020204020204" charset="-122"/>
                          <a:sym typeface="宋体" panose="02010600030101010101" pitchFamily="2" charset="-122"/>
                        </a:rPr>
                        <a:t>意向订单个数及订量</a:t>
                      </a: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1600" b="1" dirty="0">
                          <a:latin typeface="微软雅黑" panose="020B0503020204020204" charset="-122"/>
                          <a:ea typeface="微软雅黑" panose="020B0503020204020204" charset="-122"/>
                          <a:sym typeface="宋体" panose="02010600030101010101" pitchFamily="2" charset="-122"/>
                        </a:rPr>
                        <a:t>安排送样客户数</a:t>
                      </a: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615315">
                <a:tc rowSpan="4"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8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5315">
                <a:tc vMerge="1"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5950">
                <a:tc vMerge="1"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5950">
                <a:tc vMerge="1"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1360"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600" b="1" u="none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marL="90170" marR="90170" marT="46990" marB="46990"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u="none" dirty="0">
                          <a:latin typeface="微软雅黑" panose="020B0503020204020204" charset="-122"/>
                          <a:ea typeface="微软雅黑" panose="020B0503020204020204" charset="-122"/>
                          <a:sym typeface="宋体" panose="02010600030101010101" pitchFamily="2" charset="-122"/>
                        </a:rPr>
                        <a:t>合计</a:t>
                      </a:r>
                      <a:endParaRPr lang="zh-CN" altLang="en-US" sz="18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600" b="1" u="none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新魏" panose="02010800040101010101" pitchFamily="2" charset="-122"/>
                          <a:sym typeface="Calibri" panose="020F0502020204030204" charset="0"/>
                        </a:defRPr>
                      </a:lvl1pPr>
                      <a:lvl2pPr marL="457200" lvl="1" indent="-457200" algn="l">
                        <a:defRPr sz="2400" kern="1200">
                          <a:ea typeface="楷体_GB2312" pitchFamily="1" charset="-122"/>
                        </a:defRPr>
                      </a:lvl2pPr>
                      <a:lvl3pPr marL="914400" lvl="2" indent="-914400" algn="l">
                        <a:defRPr sz="2000" kern="1200">
                          <a:ea typeface="微软雅黑" panose="020B0503020204020204" charset="-122"/>
                        </a:defRPr>
                      </a:lvl3pPr>
                      <a:lvl4pPr marL="1371600" lvl="3" indent="-1371600" algn="l">
                        <a:defRPr sz="1800" kern="1200"/>
                      </a:lvl4pPr>
                      <a:lvl5pPr marL="1828800" lvl="4" indent="-1828800" algn="l">
                        <a:defRPr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14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zh-CN" altLang="en-US" sz="1400" b="1" u="none" dirty="0">
                        <a:latin typeface="微软雅黑" panose="020B0503020204020204" charset="-122"/>
                        <a:ea typeface="微软雅黑" panose="020B0503020204020204" charset="-122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332230" y="5798185"/>
            <a:ext cx="68732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>
                <a:solidFill>
                  <a:schemeClr val="tx1"/>
                </a:solidFill>
              </a:rPr>
              <a:t>附：《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客户拜访</a:t>
            </a:r>
            <a:r>
              <a:rPr lang="zh-CN" altLang="en-US" sz="2000">
                <a:solidFill>
                  <a:schemeClr val="tx1"/>
                </a:solidFill>
              </a:rPr>
              <a:t>总结表》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客户名片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公司目录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样品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合影等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7260" name="文本框 7317"/>
          <p:cNvSpPr txBox="1"/>
          <p:nvPr/>
        </p:nvSpPr>
        <p:spPr>
          <a:xfrm>
            <a:off x="1173480" y="62865"/>
            <a:ext cx="82016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28600" indent="-228600"/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三、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各国家及城市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客户拜访情况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38913"/>
          <p:cNvSpPr>
            <a:spLocks noGrp="1"/>
          </p:cNvSpPr>
          <p:nvPr>
            <p:ph type="title"/>
          </p:nvPr>
        </p:nvSpPr>
        <p:spPr>
          <a:xfrm>
            <a:off x="1173480" y="1189355"/>
            <a:ext cx="8010525" cy="4608830"/>
          </a:xfrm>
        </p:spPr>
        <p:txBody>
          <a:bodyPr anchor="ctr"/>
          <a:lstStyle/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、客户群体</a:t>
            </a:r>
            <a:b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、应用领域</a:t>
            </a:r>
            <a:b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</a:rPr>
              <a:t>、客户操作或使用习惯</a:t>
            </a:r>
            <a:b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br>
              <a:rPr lang="zh-CN" altLang="en-US" sz="1600" b="0" dirty="0">
                <a:solidFill>
                  <a:schemeClr val="tx1"/>
                </a:solidFill>
                <a:latin typeface="宋体" panose="02010600030101010101" pitchFamily="2" charset="-122"/>
              </a:rPr>
            </a:br>
            <a:endParaRPr lang="zh-CN" altLang="en-US" sz="1600" b="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7260" name="文本框 7317"/>
          <p:cNvSpPr txBox="1"/>
          <p:nvPr/>
        </p:nvSpPr>
        <p:spPr>
          <a:xfrm>
            <a:off x="1173480" y="62865"/>
            <a:ext cx="82016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28600" indent="-228600"/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四、市场分析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文本占位符 39937"/>
          <p:cNvSpPr>
            <a:spLocks noGrp="1"/>
          </p:cNvSpPr>
          <p:nvPr>
            <p:ph idx="1"/>
          </p:nvPr>
        </p:nvSpPr>
        <p:spPr>
          <a:xfrm>
            <a:off x="1398905" y="970280"/>
            <a:ext cx="7976235" cy="5680075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、对我们产品的反馈</a:t>
            </a:r>
            <a:b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b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质量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b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价格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b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b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包装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b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b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商标 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b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......</a:t>
            </a:r>
            <a:b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b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竞争对手同行情况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b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60" name="文本框 7317"/>
          <p:cNvSpPr txBox="1"/>
          <p:nvPr/>
        </p:nvSpPr>
        <p:spPr>
          <a:xfrm>
            <a:off x="1173480" y="62865"/>
            <a:ext cx="82016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28600" indent="-228600"/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四、市场分析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文本占位符 44034"/>
          <p:cNvSpPr>
            <a:spLocks noGrp="1"/>
          </p:cNvSpPr>
          <p:nvPr>
            <p:ph idx="1"/>
          </p:nvPr>
        </p:nvSpPr>
        <p:spPr>
          <a:xfrm>
            <a:off x="1173480" y="1103630"/>
            <a:ext cx="8979535" cy="4790440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8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、客户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市场比较感兴趣的新产品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新领域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80000"/>
              </a:lnSpc>
              <a:buNone/>
            </a:pP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、风俗习惯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、搜索习惯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r>
              <a:rPr lang="en-US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......</a:t>
            </a:r>
            <a:endParaRPr lang="en-US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en-US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260" name="文本框 7317"/>
          <p:cNvSpPr txBox="1"/>
          <p:nvPr/>
        </p:nvSpPr>
        <p:spPr>
          <a:xfrm>
            <a:off x="1173480" y="62865"/>
            <a:ext cx="82016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28600" indent="-228600"/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四、市场分析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文本占位符 45057"/>
          <p:cNvSpPr>
            <a:spLocks noGrp="1"/>
          </p:cNvSpPr>
          <p:nvPr>
            <p:ph idx="1"/>
          </p:nvPr>
        </p:nvSpPr>
        <p:spPr>
          <a:xfrm>
            <a:off x="1173480" y="1259205"/>
            <a:ext cx="10142220" cy="4568825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客户反馈我司产品需改进的问题：</a:t>
            </a:r>
            <a:endParaRPr lang="zh-CN" altLang="en-US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60" name="文本框 7317"/>
          <p:cNvSpPr txBox="1"/>
          <p:nvPr/>
        </p:nvSpPr>
        <p:spPr>
          <a:xfrm>
            <a:off x="1173480" y="62865"/>
            <a:ext cx="82016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28600" indent="-228600"/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四、市场分析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" name="文本框 7317"/>
          <p:cNvSpPr txBox="1"/>
          <p:nvPr/>
        </p:nvSpPr>
        <p:spPr>
          <a:xfrm>
            <a:off x="1173480" y="62865"/>
            <a:ext cx="82016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228600" indent="-228600"/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五、拜访费用总结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  <p:graphicFrame>
        <p:nvGraphicFramePr>
          <p:cNvPr id="2" name="表格 -1"/>
          <p:cNvGraphicFramePr/>
          <p:nvPr>
            <p:custDataLst>
              <p:tags r:id="rId1"/>
            </p:custDataLst>
          </p:nvPr>
        </p:nvGraphicFramePr>
        <p:xfrm>
          <a:off x="1327785" y="1495693"/>
          <a:ext cx="7604125" cy="420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0920"/>
                <a:gridCol w="2407285"/>
                <a:gridCol w="1910080"/>
                <a:gridCol w="1005840"/>
              </a:tblGrid>
              <a:tr h="5099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费用项目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费用金额（当地币）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折人民币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备注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交通费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住宿费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餐费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电话费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客户礼物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其它（取现手续费等）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89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合计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  </a:t>
                      </a:r>
                      <a:endParaRPr lang="en-US" altLang="zh-CN" sz="16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50177"/>
          <p:cNvSpPr>
            <a:spLocks noGrp="1"/>
          </p:cNvSpPr>
          <p:nvPr>
            <p:ph type="title"/>
          </p:nvPr>
        </p:nvSpPr>
        <p:spPr>
          <a:xfrm>
            <a:off x="1247140" y="0"/>
            <a:ext cx="8229600" cy="782955"/>
          </a:xfrm>
        </p:spPr>
        <p:txBody>
          <a:bodyPr anchor="ctr"/>
          <a:lstStyle/>
          <a:p>
            <a:r>
              <a:rPr lang="zh-CN" altLang="en-US" sz="3200" dirty="0"/>
              <a:t>六、亮点、暗点分析</a:t>
            </a:r>
            <a:endParaRPr lang="zh-CN" altLang="en-US" sz="3200" dirty="0"/>
          </a:p>
        </p:txBody>
      </p:sp>
      <p:sp>
        <p:nvSpPr>
          <p:cNvPr id="50178" name="文本占位符 50178"/>
          <p:cNvSpPr>
            <a:spLocks noGrp="1"/>
          </p:cNvSpPr>
          <p:nvPr>
            <p:ph idx="1"/>
          </p:nvPr>
        </p:nvSpPr>
        <p:spPr>
          <a:xfrm>
            <a:off x="1247140" y="1214755"/>
            <a:ext cx="7905115" cy="4753610"/>
          </a:xfrm>
        </p:spPr>
        <p:txBody>
          <a:bodyPr anchor="t"/>
          <a:lstStyle/>
          <a:p>
            <a:pPr>
              <a:lnSpc>
                <a:spcPct val="8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1、亮点：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80000"/>
              </a:lnSpc>
            </a:pP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80000"/>
              </a:lnSpc>
            </a:pP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80000"/>
              </a:lnSpc>
            </a:pP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80000"/>
              </a:lnSpc>
            </a:pP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、暗点：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80000"/>
              </a:lnSpc>
            </a:pP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80000"/>
              </a:lnSpc>
            </a:pP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52225"/>
          <p:cNvSpPr>
            <a:spLocks noGrp="1"/>
          </p:cNvSpPr>
          <p:nvPr>
            <p:ph type="title"/>
          </p:nvPr>
        </p:nvSpPr>
        <p:spPr>
          <a:xfrm>
            <a:off x="1214120" y="0"/>
            <a:ext cx="7480935" cy="733425"/>
          </a:xfrm>
        </p:spPr>
        <p:txBody>
          <a:bodyPr anchor="ctr"/>
          <a:lstStyle/>
          <a:p>
            <a:r>
              <a:rPr lang="zh-CN" altLang="en-US" sz="3200" dirty="0"/>
              <a:t>七、对后续拜访的建议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52225"/>
          <p:cNvSpPr>
            <a:spLocks noGrp="1"/>
          </p:cNvSpPr>
          <p:nvPr>
            <p:ph type="title"/>
          </p:nvPr>
        </p:nvSpPr>
        <p:spPr>
          <a:xfrm>
            <a:off x="1214120" y="0"/>
            <a:ext cx="7480935" cy="733425"/>
          </a:xfrm>
        </p:spPr>
        <p:txBody>
          <a:bodyPr anchor="ctr"/>
          <a:lstStyle/>
          <a:p>
            <a:r>
              <a:rPr lang="zh-CN" altLang="en-US" sz="3200" dirty="0"/>
              <a:t>八、其它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93140" y="1892300"/>
            <a:ext cx="80772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latin typeface="+mj-ea"/>
                <a:ea typeface="+mj-ea"/>
              </a:rPr>
              <a:t>感谢您的聆听</a:t>
            </a:r>
            <a:endParaRPr lang="zh-CN" altLang="en-US" sz="8000" b="1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 advTm="5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p="http://schemas.openxmlformats.org/presentationml/2006/main">
  <p:tag name="KSO_WM_UNIT_TABLE_BEAUTIFY" val="smartTable{f75320da-8cb6-4559-9b5b-f4c44c03b8fc}"/>
</p:tagLst>
</file>

<file path=ppt/tags/tag2.xml><?xml version="1.0" encoding="utf-8"?>
<p:tagLst xmlns:p="http://schemas.openxmlformats.org/presentationml/2006/main">
  <p:tag name="KSO_WM_UNIT_TABLE_BEAUTIFY" val="smartTable{62bf0cc2-a241-434e-94c0-c6e61d80eec7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WPS 演示</Application>
  <PresentationFormat>宽屏</PresentationFormat>
  <Paragraphs>157</Paragraphs>
  <Slides>14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Calibri</vt:lpstr>
      <vt:lpstr>华文新魏</vt:lpstr>
      <vt:lpstr>楷体_GB2312</vt:lpstr>
      <vt:lpstr>新宋体</vt:lpstr>
      <vt:lpstr>Arial Unicode MS</vt:lpstr>
      <vt:lpstr>Arial Black</vt:lpstr>
      <vt:lpstr>黑体</vt:lpstr>
      <vt:lpstr>等线</vt:lpstr>
      <vt:lpstr>Office 主题</vt:lpstr>
      <vt:lpstr>PowerPoint 演示文稿</vt:lpstr>
      <vt:lpstr>PowerPoint 演示文稿</vt:lpstr>
      <vt:lpstr>一、拜访时间</vt:lpstr>
      <vt:lpstr>PowerPoint 演示文稿</vt:lpstr>
      <vt:lpstr>PowerPoint 演示文稿</vt:lpstr>
      <vt:lpstr>1、客户群体     3、应用领域     3、客户操作或使用习惯    </vt:lpstr>
      <vt:lpstr>PowerPoint 演示文稿</vt:lpstr>
      <vt:lpstr>PowerPoint 演示文稿</vt:lpstr>
      <vt:lpstr>PowerPoint 演示文稿</vt:lpstr>
      <vt:lpstr>PowerPoint 演示文稿</vt:lpstr>
      <vt:lpstr>六、亮点、暗点分析</vt:lpstr>
      <vt:lpstr>七、对后续拜访的建议</vt:lpstr>
      <vt:lpstr>八、其它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阿呆</dc:creator>
  <cp:lastModifiedBy>张军波</cp:lastModifiedBy>
  <cp:revision>54</cp:revision>
  <dcterms:created xsi:type="dcterms:W3CDTF">2016-07-22T01:17:00Z</dcterms:created>
  <dcterms:modified xsi:type="dcterms:W3CDTF">2026-09-16T02:47:39Z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3491E4F00E044E96A35A11DE6D1F3D74_12</vt:lpwstr>
  </property>
</Properties>
</file>